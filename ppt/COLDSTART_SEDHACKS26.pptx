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HK Grotesk Bold" charset="1" panose="00000800000000000000"/>
      <p:regular r:id="rId12"/>
    </p:embeddedFont>
    <p:embeddedFont>
      <p:font typeface="DM Serif Display" charset="1" panose="00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555" r="0" b="-555"/>
            </a:stretch>
          </a:blipFill>
        </p:spPr>
      </p:sp>
      <p:grpSp>
        <p:nvGrpSpPr>
          <p:cNvPr name="Group 3" id="3"/>
          <p:cNvGrpSpPr/>
          <p:nvPr/>
        </p:nvGrpSpPr>
        <p:grpSpPr>
          <a:xfrm rot="5400000">
            <a:off x="7492249" y="-1324332"/>
            <a:ext cx="3303502" cy="18288000"/>
            <a:chOff x="0" y="0"/>
            <a:chExt cx="870058" cy="4816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0058" cy="4816592"/>
            </a:xfrm>
            <a:custGeom>
              <a:avLst/>
              <a:gdLst/>
              <a:ahLst/>
              <a:cxnLst/>
              <a:rect r="r" b="b" t="t" l="l"/>
              <a:pathLst>
                <a:path h="4816592" w="870058">
                  <a:moveTo>
                    <a:pt x="0" y="0"/>
                  </a:moveTo>
                  <a:lnTo>
                    <a:pt x="870058" y="0"/>
                  </a:lnTo>
                  <a:lnTo>
                    <a:pt x="870058" y="4816592"/>
                  </a:lnTo>
                  <a:lnTo>
                    <a:pt x="0" y="4816592"/>
                  </a:lnTo>
                  <a:close/>
                </a:path>
              </a:pathLst>
            </a:custGeom>
            <a:gradFill rotWithShape="true">
              <a:gsLst>
                <a:gs pos="0">
                  <a:srgbClr val="1B0551">
                    <a:alpha val="45000"/>
                  </a:srgbClr>
                </a:gs>
                <a:gs pos="100000">
                  <a:srgbClr val="06112D">
                    <a:alpha val="45000"/>
                  </a:srgbClr>
                </a:gs>
              </a:gsLst>
              <a:path path="circle">
                <a:fillToRect l="0" r="100000" t="0" b="100000"/>
              </a:path>
              <a:tileRect r="0" l="-100000" b="0" t="-10000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870058" cy="48451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463446" y="1139026"/>
            <a:ext cx="47625" cy="47625"/>
            <a:chOff x="0" y="0"/>
            <a:chExt cx="12543" cy="1254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543" cy="12543"/>
            </a:xfrm>
            <a:custGeom>
              <a:avLst/>
              <a:gdLst/>
              <a:ahLst/>
              <a:cxnLst/>
              <a:rect r="r" b="b" t="t" l="l"/>
              <a:pathLst>
                <a:path h="12543" w="12543">
                  <a:moveTo>
                    <a:pt x="6272" y="0"/>
                  </a:moveTo>
                  <a:lnTo>
                    <a:pt x="6272" y="0"/>
                  </a:lnTo>
                  <a:cubicBezTo>
                    <a:pt x="7935" y="0"/>
                    <a:pt x="9530" y="661"/>
                    <a:pt x="10706" y="1837"/>
                  </a:cubicBezTo>
                  <a:cubicBezTo>
                    <a:pt x="11882" y="3013"/>
                    <a:pt x="12543" y="4608"/>
                    <a:pt x="12543" y="6272"/>
                  </a:cubicBezTo>
                  <a:lnTo>
                    <a:pt x="12543" y="6272"/>
                  </a:lnTo>
                  <a:cubicBezTo>
                    <a:pt x="12543" y="7935"/>
                    <a:pt x="11882" y="9530"/>
                    <a:pt x="10706" y="10706"/>
                  </a:cubicBezTo>
                  <a:cubicBezTo>
                    <a:pt x="9530" y="11882"/>
                    <a:pt x="7935" y="12543"/>
                    <a:pt x="6272" y="12543"/>
                  </a:cubicBezTo>
                  <a:lnTo>
                    <a:pt x="6272" y="12543"/>
                  </a:lnTo>
                  <a:cubicBezTo>
                    <a:pt x="4608" y="12543"/>
                    <a:pt x="3013" y="11882"/>
                    <a:pt x="1837" y="10706"/>
                  </a:cubicBezTo>
                  <a:cubicBezTo>
                    <a:pt x="661" y="9530"/>
                    <a:pt x="0" y="7935"/>
                    <a:pt x="0" y="6272"/>
                  </a:cubicBezTo>
                  <a:lnTo>
                    <a:pt x="0" y="6272"/>
                  </a:lnTo>
                  <a:cubicBezTo>
                    <a:pt x="0" y="4608"/>
                    <a:pt x="661" y="3013"/>
                    <a:pt x="1837" y="1837"/>
                  </a:cubicBezTo>
                  <a:cubicBezTo>
                    <a:pt x="3013" y="661"/>
                    <a:pt x="4608" y="0"/>
                    <a:pt x="6272" y="0"/>
                  </a:cubicBezTo>
                  <a:close/>
                </a:path>
              </a:pathLst>
            </a:custGeom>
            <a:solidFill>
              <a:srgbClr val="233D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543" cy="411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1960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635243" y="369503"/>
            <a:ext cx="3263903" cy="1053969"/>
          </a:xfrm>
          <a:custGeom>
            <a:avLst/>
            <a:gdLst/>
            <a:ahLst/>
            <a:cxnLst/>
            <a:rect r="r" b="b" t="t" l="l"/>
            <a:pathLst>
              <a:path h="1053969" w="3263903">
                <a:moveTo>
                  <a:pt x="0" y="0"/>
                </a:moveTo>
                <a:lnTo>
                  <a:pt x="3263903" y="0"/>
                </a:lnTo>
                <a:lnTo>
                  <a:pt x="3263903" y="1053969"/>
                </a:lnTo>
                <a:lnTo>
                  <a:pt x="0" y="105396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2903794" y="1547297"/>
            <a:ext cx="12480412" cy="23377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9195"/>
              </a:lnSpc>
              <a:spcBef>
                <a:spcPct val="0"/>
              </a:spcBef>
            </a:pPr>
            <a:r>
              <a:rPr lang="en-US" b="true" sz="13711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SEDHACKS'26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028700" y="6396120"/>
            <a:ext cx="4129715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Problem Statement Title: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04275" y="6979562"/>
            <a:ext cx="1238495" cy="455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79"/>
              </a:lnSpc>
              <a:spcBef>
                <a:spcPct val="0"/>
              </a:spcBef>
            </a:pPr>
            <a:r>
              <a:rPr lang="en-US" sz="2699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Track: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8700" y="8654589"/>
            <a:ext cx="2064857" cy="4559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44"/>
              </a:lnSpc>
              <a:spcBef>
                <a:spcPct val="0"/>
              </a:spcBef>
            </a:pPr>
            <a:r>
              <a:rPr lang="en-US" sz="2674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Team Name:</a:t>
            </a:r>
          </a:p>
        </p:txBody>
      </p:sp>
      <p:sp>
        <p:nvSpPr>
          <p:cNvPr name="Freeform 14" id="14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028700" y="7486824"/>
            <a:ext cx="477903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Category[hardware/software]: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04275" y="8075469"/>
            <a:ext cx="2794871" cy="455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sz="2700">
                <a:solidFill>
                  <a:srgbClr val="FFFFF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Team Lead Name:</a:t>
            </a:r>
          </a:p>
        </p:txBody>
      </p:sp>
      <p:sp>
        <p:nvSpPr>
          <p:cNvPr id="17" name="CC_text"/>
          <p:cNvSpPr txBox="1"/>
          <p:nvPr/>
        </p:nvSpPr>
        <p:spPr>
          <a:xfrm>
            <a:off x="5266944" y="6391656"/>
            <a:ext cx="11667743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100" b="1" i="0">
                <a:solidFill>
                  <a:srgbClr val="CAE8FF"/>
                </a:solidFill>
                <a:latin typeface="DM Serif Display"/>
              </a:rPr>
              <a:t>Cold-Night Survival - Power &amp; Thermal Autonomy for Near-Space Payloads</a:t>
            </a:r>
          </a:p>
        </p:txBody>
      </p:sp>
      <p:sp>
        <p:nvSpPr>
          <p:cNvPr id="18" name="CC_text"/>
          <p:cNvSpPr txBox="1"/>
          <p:nvPr/>
        </p:nvSpPr>
        <p:spPr>
          <a:xfrm>
            <a:off x="2450592" y="6976872"/>
            <a:ext cx="14484095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AE8FF"/>
                </a:solidFill>
                <a:latin typeface="DM Serif Display"/>
              </a:rPr>
              <a:t>04 - Sustainability and Energy Management</a:t>
            </a:r>
          </a:p>
        </p:txBody>
      </p:sp>
      <p:sp>
        <p:nvSpPr>
          <p:cNvPr id="19" name="CC_text"/>
          <p:cNvSpPr txBox="1"/>
          <p:nvPr/>
        </p:nvSpPr>
        <p:spPr>
          <a:xfrm>
            <a:off x="5916168" y="7488936"/>
            <a:ext cx="11018519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AE8FF"/>
                </a:solidFill>
                <a:latin typeface="DM Serif Display"/>
              </a:rPr>
              <a:t>Software  (with physical bench validation)</a:t>
            </a:r>
          </a:p>
        </p:txBody>
      </p:sp>
      <p:sp>
        <p:nvSpPr>
          <p:cNvPr id="20" name="CC_text"/>
          <p:cNvSpPr txBox="1"/>
          <p:nvPr/>
        </p:nvSpPr>
        <p:spPr>
          <a:xfrm>
            <a:off x="4014215" y="8074152"/>
            <a:ext cx="12920472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AE8FF"/>
                </a:solidFill>
                <a:latin typeface="DM Serif Display"/>
              </a:rPr>
              <a:t>YOUR NAME HERE</a:t>
            </a:r>
          </a:p>
        </p:txBody>
      </p:sp>
      <p:sp>
        <p:nvSpPr>
          <p:cNvPr id="21" name="CC_text"/>
          <p:cNvSpPr txBox="1"/>
          <p:nvPr/>
        </p:nvSpPr>
        <p:spPr>
          <a:xfrm>
            <a:off x="3200400" y="8650224"/>
            <a:ext cx="13734288" cy="438912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AE8FF"/>
                </a:solidFill>
                <a:latin typeface="DM Serif Display"/>
              </a:rPr>
              <a:t>TEAM COLDSTART</a:t>
            </a:r>
          </a:p>
        </p:txBody>
      </p:sp>
      <p:sp>
        <p:nvSpPr>
          <p:cNvPr id="22" name="CC_text"/>
          <p:cNvSpPr txBox="1"/>
          <p:nvPr/>
        </p:nvSpPr>
        <p:spPr>
          <a:xfrm>
            <a:off x="1024128" y="9528048"/>
            <a:ext cx="15544800" cy="5486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4DA3FF"/>
                </a:solidFill>
                <a:latin typeface="Calibri"/>
              </a:rPr>
              <a:t>COLDSTART</a:t>
            </a:r>
            <a:r>
              <a:rPr sz="1500" b="0">
                <a:solidFill>
                  <a:srgbClr val="8FA6C4"/>
                </a:solidFill>
                <a:latin typeface="Calibri"/>
              </a:rPr>
              <a:t>   |   flight-day power &amp; thermal planner   |   real forecast in, PASS/FAIL and the cheapest fix out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3669" y="604913"/>
            <a:ext cx="6400663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PROPOSED SOLUTION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id="6" name="CC_card"/>
          <p:cNvSpPr/>
          <p:nvPr/>
        </p:nvSpPr>
        <p:spPr>
          <a:xfrm>
            <a:off x="822960" y="1737360"/>
            <a:ext cx="16642080" cy="11887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C_text"/>
          <p:cNvSpPr txBox="1"/>
          <p:nvPr/>
        </p:nvSpPr>
        <p:spPr>
          <a:xfrm>
            <a:off x="1078992" y="1883664"/>
            <a:ext cx="16130016" cy="896112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0">
                <a:solidFill>
                  <a:srgbClr val="8FA6C4"/>
                </a:solidFill>
                <a:latin typeface="Calibri"/>
              </a:rPr>
              <a:t>One question, answered before launch:  </a:t>
            </a:r>
            <a:r>
              <a:rPr sz="1900" b="1">
                <a:solidFill>
                  <a:srgbClr val="CAE8FF"/>
                </a:solidFill>
                <a:latin typeface="Calibri"/>
              </a:rPr>
              <a:t>will this payload survive the night at -52 C</a:t>
            </a:r>
            <a:r>
              <a:rPr sz="1900" b="0">
                <a:solidFill>
                  <a:srgbClr val="8FA6C4"/>
                </a:solidFill>
                <a:latin typeface="Calibri"/>
              </a:rPr>
              <a:t>  - and what is the </a:t>
            </a:r>
            <a:r>
              <a:rPr sz="1900" b="1">
                <a:solidFill>
                  <a:srgbClr val="CAE8FF"/>
                </a:solidFill>
                <a:latin typeface="Calibri"/>
              </a:rPr>
              <a:t>cheapest design</a:t>
            </a:r>
            <a:r>
              <a:rPr sz="1900" b="0">
                <a:solidFill>
                  <a:srgbClr val="8FA6C4"/>
                </a:solidFill>
                <a:latin typeface="Calibri"/>
              </a:rPr>
              <a:t> that makes it survive?</a:t>
            </a:r>
          </a:p>
        </p:txBody>
      </p:sp>
      <p:sp>
        <p:nvSpPr>
          <p:cNvPr id="8" name="CC_card"/>
          <p:cNvSpPr/>
          <p:nvPr/>
        </p:nvSpPr>
        <p:spPr>
          <a:xfrm>
            <a:off x="822960" y="3072384"/>
            <a:ext cx="5358384" cy="14173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C_text"/>
          <p:cNvSpPr txBox="1"/>
          <p:nvPr/>
        </p:nvSpPr>
        <p:spPr>
          <a:xfrm>
            <a:off x="987552" y="3218688"/>
            <a:ext cx="502920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4DA3FF"/>
                </a:solidFill>
                <a:latin typeface="HK Grotesk Bold"/>
              </a:rPr>
              <a:t>26.5 km</a:t>
            </a:r>
          </a:p>
        </p:txBody>
      </p:sp>
      <p:sp>
        <p:nvSpPr>
          <p:cNvPr id="10" name="CC_text"/>
          <p:cNvSpPr txBox="1"/>
          <p:nvPr/>
        </p:nvSpPr>
        <p:spPr>
          <a:xfrm>
            <a:off x="987552" y="3822191"/>
            <a:ext cx="50292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6C4"/>
                </a:solidFill>
                <a:latin typeface="Calibri"/>
              </a:rPr>
              <a:t>float altitude - real GFS 20 hPa pressure level</a:t>
            </a:r>
          </a:p>
        </p:txBody>
      </p:sp>
      <p:sp>
        <p:nvSpPr>
          <p:cNvPr id="11" name="CC_card"/>
          <p:cNvSpPr/>
          <p:nvPr/>
        </p:nvSpPr>
        <p:spPr>
          <a:xfrm>
            <a:off x="6464808" y="3072384"/>
            <a:ext cx="5358384" cy="14173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CC_text"/>
          <p:cNvSpPr txBox="1"/>
          <p:nvPr/>
        </p:nvSpPr>
        <p:spPr>
          <a:xfrm>
            <a:off x="6629400" y="3218688"/>
            <a:ext cx="502920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CAE8FF"/>
                </a:solidFill>
                <a:latin typeface="HK Grotesk Bold"/>
              </a:rPr>
              <a:t>-52.5 C</a:t>
            </a:r>
          </a:p>
        </p:txBody>
      </p:sp>
      <p:sp>
        <p:nvSpPr>
          <p:cNvPr id="13" name="CC_text"/>
          <p:cNvSpPr txBox="1"/>
          <p:nvPr/>
        </p:nvSpPr>
        <p:spPr>
          <a:xfrm>
            <a:off x="6629400" y="3822191"/>
            <a:ext cx="50292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6C4"/>
                </a:solidFill>
                <a:latin typeface="Calibri"/>
              </a:rPr>
              <a:t>forecast air temperature on 12 Oct over Chennai</a:t>
            </a:r>
          </a:p>
        </p:txBody>
      </p:sp>
      <p:sp>
        <p:nvSpPr>
          <p:cNvPr id="14" name="CC_card"/>
          <p:cNvSpPr/>
          <p:nvPr/>
        </p:nvSpPr>
        <p:spPr>
          <a:xfrm>
            <a:off x="12106656" y="3072384"/>
            <a:ext cx="5358384" cy="14173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CC_text"/>
          <p:cNvSpPr txBox="1"/>
          <p:nvPr/>
        </p:nvSpPr>
        <p:spPr>
          <a:xfrm>
            <a:off x="12271248" y="3218688"/>
            <a:ext cx="5029200" cy="56692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FFB020"/>
                </a:solidFill>
                <a:latin typeface="HK Grotesk Bold"/>
              </a:rPr>
              <a:t>13 h</a:t>
            </a:r>
          </a:p>
        </p:txBody>
      </p:sp>
      <p:sp>
        <p:nvSpPr>
          <p:cNvPr id="16" name="CC_text"/>
          <p:cNvSpPr txBox="1"/>
          <p:nvPr/>
        </p:nvSpPr>
        <p:spPr>
          <a:xfrm>
            <a:off x="12271248" y="3822191"/>
            <a:ext cx="5029200" cy="594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6C4"/>
                </a:solidFill>
                <a:latin typeface="Calibri"/>
              </a:rPr>
              <a:t>real darkness - from solar geometry, not a guess</a:t>
            </a:r>
          </a:p>
        </p:txBody>
      </p:sp>
      <p:sp>
        <p:nvSpPr>
          <p:cNvPr id="17" name="CC_card"/>
          <p:cNvSpPr/>
          <p:nvPr/>
        </p:nvSpPr>
        <p:spPr>
          <a:xfrm>
            <a:off x="822960" y="4645152"/>
            <a:ext cx="8183879" cy="25146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C_text"/>
          <p:cNvSpPr txBox="1"/>
          <p:nvPr/>
        </p:nvSpPr>
        <p:spPr>
          <a:xfrm>
            <a:off x="1042416" y="479145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THE PROBLEM</a:t>
            </a:r>
          </a:p>
        </p:txBody>
      </p:sp>
      <p:sp>
        <p:nvSpPr>
          <p:cNvPr id="19" name="CC_text"/>
          <p:cNvSpPr txBox="1"/>
          <p:nvPr/>
        </p:nvSpPr>
        <p:spPr>
          <a:xfrm>
            <a:off x="1042416" y="5248656"/>
            <a:ext cx="77724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A balloon payload floats where it is -52 C and dark for 13 hours.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A cold Li-ion pack cannot give up its bottom 60% of charge - the energy is there but frozen.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Heaters fix the cold, but heaters burn the very energy you are trying to save.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Today this is sized on textbook tables, not on the forecast for the actual launch date.</a:t>
            </a:r>
          </a:p>
        </p:txBody>
      </p:sp>
      <p:sp>
        <p:nvSpPr>
          <p:cNvPr id="20" name="CC_card"/>
          <p:cNvSpPr/>
          <p:nvPr/>
        </p:nvSpPr>
        <p:spPr>
          <a:xfrm>
            <a:off x="9281160" y="4645152"/>
            <a:ext cx="8183879" cy="25146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C_text"/>
          <p:cNvSpPr txBox="1"/>
          <p:nvPr/>
        </p:nvSpPr>
        <p:spPr>
          <a:xfrm>
            <a:off x="9500616" y="479145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WHAT WE BUILT</a:t>
            </a:r>
          </a:p>
        </p:txBody>
      </p:sp>
      <p:sp>
        <p:nvSpPr>
          <p:cNvPr id="22" name="CC_text"/>
          <p:cNvSpPr txBox="1"/>
          <p:nvPr/>
        </p:nvSpPr>
        <p:spPr>
          <a:xfrm>
            <a:off x="9500616" y="5248656"/>
            <a:ext cx="77724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A planner that pulls the REAL forecast for your site and date and simulates the whole flight, minute by minute.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It reports the exact minute the battery dies - not a chart to interpret.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It then searches battery size x insulation x heater setting for the CHEAPEST design that still passes.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Validated against a physical bench test we ran during the sprint.</a:t>
            </a:r>
          </a:p>
        </p:txBody>
      </p:sp>
      <p:sp>
        <p:nvSpPr>
          <p:cNvPr id="23" name="CC_card"/>
          <p:cNvSpPr/>
          <p:nvPr/>
        </p:nvSpPr>
        <p:spPr>
          <a:xfrm>
            <a:off x="822960" y="7342631"/>
            <a:ext cx="16642080" cy="25603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C_text"/>
          <p:cNvSpPr txBox="1"/>
          <p:nvPr/>
        </p:nvSpPr>
        <p:spPr>
          <a:xfrm>
            <a:off x="1060704" y="7488936"/>
            <a:ext cx="16093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THE OUTPUT IS A DECISION, NOT A DASHBOARD</a:t>
            </a:r>
          </a:p>
        </p:txBody>
      </p:sp>
      <p:sp>
        <p:nvSpPr>
          <p:cNvPr id="25" name="CC_text"/>
          <p:cNvSpPr txBox="1"/>
          <p:nvPr/>
        </p:nvSpPr>
        <p:spPr>
          <a:xfrm>
            <a:off x="1060704" y="7964423"/>
            <a:ext cx="786384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FA6C4"/>
                </a:solidFill>
                <a:latin typeface="HK Grotesk Bold"/>
              </a:rPr>
              <a:t>INPUT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DCE6F5"/>
                </a:solidFill>
                <a:latin typeface="Calibri"/>
              </a:rPr>
              <a:t>6 cells | 10 mm insulation | heater -10 C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FA6C4"/>
                </a:solidFill>
                <a:latin typeface="HK Grotesk Bold"/>
              </a:rPr>
              <a:t>VERDICT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FF5C6E"/>
                </a:solidFill>
                <a:latin typeface="HK Grotesk Bold"/>
              </a:rPr>
              <a:t>FAIL - charge exhausted at 00:14 IST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6C4"/>
                </a:solidFill>
                <a:latin typeface="Calibri"/>
              </a:rPr>
              <a:t>6.2 h of a 13 h night survived</a:t>
            </a:r>
          </a:p>
        </p:txBody>
      </p:sp>
      <p:sp>
        <p:nvSpPr>
          <p:cNvPr id="26" name="CC_text"/>
          <p:cNvSpPr txBox="1"/>
          <p:nvPr/>
        </p:nvSpPr>
        <p:spPr>
          <a:xfrm>
            <a:off x="9509760" y="7964423"/>
            <a:ext cx="7772400" cy="17373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8FA6C4"/>
                </a:solidFill>
                <a:latin typeface="HK Grotesk Bold"/>
              </a:rPr>
              <a:t>SAME ENGINE, ONE BUTTON LATER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DCE6F5"/>
                </a:solidFill>
                <a:latin typeface="Calibri"/>
              </a:rPr>
              <a:t>6 cells | 75 mm insulation | heater OFF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35D07F"/>
                </a:solidFill>
                <a:latin typeface="HK Grotesk Bold"/>
              </a:rPr>
              <a:t>PASS - 3.33x margin, Rs 2468, 0.75 kg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8FA6C4"/>
                </a:solidFill>
                <a:latin typeface="Calibri"/>
              </a:rPr>
              <a:t>cheapest design that survives the night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943669" y="604913"/>
            <a:ext cx="6882491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TECHNICAL APPROACH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id="6" name="CC_card"/>
          <p:cNvSpPr/>
          <p:nvPr/>
        </p:nvSpPr>
        <p:spPr>
          <a:xfrm>
            <a:off x="822960" y="1737360"/>
            <a:ext cx="3840480" cy="658368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C_text"/>
          <p:cNvSpPr txBox="1"/>
          <p:nvPr/>
        </p:nvSpPr>
        <p:spPr>
          <a:xfrm>
            <a:off x="969264" y="1792224"/>
            <a:ext cx="354787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AE8FF"/>
                </a:solidFill>
                <a:latin typeface="HK Grotesk Bold"/>
              </a:rPr>
              <a:t>1  REAL DATA</a:t>
            </a:r>
          </a:p>
        </p:txBody>
      </p:sp>
      <p:sp>
        <p:nvSpPr>
          <p:cNvPr id="8" name="CC_arrow"/>
          <p:cNvSpPr/>
          <p:nvPr/>
        </p:nvSpPr>
        <p:spPr>
          <a:xfrm>
            <a:off x="4690872" y="1956816"/>
            <a:ext cx="384048" cy="27432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C_card"/>
          <p:cNvSpPr/>
          <p:nvPr/>
        </p:nvSpPr>
        <p:spPr>
          <a:xfrm>
            <a:off x="5093208" y="1737360"/>
            <a:ext cx="3840480" cy="658368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C_text"/>
          <p:cNvSpPr txBox="1"/>
          <p:nvPr/>
        </p:nvSpPr>
        <p:spPr>
          <a:xfrm>
            <a:off x="5239512" y="1792224"/>
            <a:ext cx="354787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AE8FF"/>
                </a:solidFill>
                <a:latin typeface="HK Grotesk Bold"/>
              </a:rPr>
              <a:t>2  PHYSICS MODEL</a:t>
            </a:r>
          </a:p>
        </p:txBody>
      </p:sp>
      <p:sp>
        <p:nvSpPr>
          <p:cNvPr id="11" name="CC_arrow"/>
          <p:cNvSpPr/>
          <p:nvPr/>
        </p:nvSpPr>
        <p:spPr>
          <a:xfrm>
            <a:off x="8961119" y="1956816"/>
            <a:ext cx="384048" cy="27432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C_card"/>
          <p:cNvSpPr/>
          <p:nvPr/>
        </p:nvSpPr>
        <p:spPr>
          <a:xfrm>
            <a:off x="9363456" y="1737360"/>
            <a:ext cx="3840480" cy="658368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C_text"/>
          <p:cNvSpPr txBox="1"/>
          <p:nvPr/>
        </p:nvSpPr>
        <p:spPr>
          <a:xfrm>
            <a:off x="9509760" y="1792224"/>
            <a:ext cx="354787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AE8FF"/>
                </a:solidFill>
                <a:latin typeface="HK Grotesk Bold"/>
              </a:rPr>
              <a:t>3  DESIGN SEARCH</a:t>
            </a:r>
          </a:p>
        </p:txBody>
      </p:sp>
      <p:sp>
        <p:nvSpPr>
          <p:cNvPr id="14" name="CC_arrow"/>
          <p:cNvSpPr/>
          <p:nvPr/>
        </p:nvSpPr>
        <p:spPr>
          <a:xfrm>
            <a:off x="13231368" y="1956816"/>
            <a:ext cx="384048" cy="274320"/>
          </a:xfrm>
          <a:prstGeom prst="rightArrow">
            <a:avLst/>
          </a:prstGeom>
          <a:solidFill>
            <a:srgbClr val="4DA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C_card"/>
          <p:cNvSpPr/>
          <p:nvPr/>
        </p:nvSpPr>
        <p:spPr>
          <a:xfrm>
            <a:off x="13633704" y="1737360"/>
            <a:ext cx="3840480" cy="658368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C_text"/>
          <p:cNvSpPr txBox="1"/>
          <p:nvPr/>
        </p:nvSpPr>
        <p:spPr>
          <a:xfrm>
            <a:off x="13780008" y="1792224"/>
            <a:ext cx="3547872" cy="54864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CAE8FF"/>
                </a:solidFill>
                <a:latin typeface="HK Grotesk Bold"/>
              </a:rPr>
              <a:t>4  VERDICT + FIX</a:t>
            </a:r>
          </a:p>
        </p:txBody>
      </p:sp>
      <p:sp>
        <p:nvSpPr>
          <p:cNvPr id="17" name="CC_card"/>
          <p:cNvSpPr/>
          <p:nvPr/>
        </p:nvSpPr>
        <p:spPr>
          <a:xfrm>
            <a:off x="822960" y="2560320"/>
            <a:ext cx="16642080" cy="210312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CC_text"/>
          <p:cNvSpPr txBox="1"/>
          <p:nvPr/>
        </p:nvSpPr>
        <p:spPr>
          <a:xfrm>
            <a:off x="1060704" y="2706624"/>
            <a:ext cx="1609344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HOW EACH STAGE WORKS - AND WHAT IS REAL</a:t>
            </a:r>
          </a:p>
        </p:txBody>
      </p:sp>
      <p:sp>
        <p:nvSpPr>
          <p:cNvPr id="19" name="CC_text"/>
          <p:cNvSpPr txBox="1"/>
          <p:nvPr/>
        </p:nvSpPr>
        <p:spPr>
          <a:xfrm>
            <a:off x="1060704" y="3218688"/>
            <a:ext cx="39136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NOAA GFS upper-air forecast (live), solar irradiance, solar geometry, Celestrak TLE, NOAA SWPC space weather.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35D07F"/>
                </a:solidFill>
                <a:latin typeface="Calibri"/>
              </a:rPr>
              <a:t>Every value fetched live at demo time. Cached fallback is labelled, never invented.</a:t>
            </a:r>
          </a:p>
        </p:txBody>
      </p:sp>
      <p:sp>
        <p:nvSpPr>
          <p:cNvPr id="20" name="CC_text"/>
          <p:cNvSpPr txBox="1"/>
          <p:nvPr/>
        </p:nvSpPr>
        <p:spPr>
          <a:xfrm>
            <a:off x="5266944" y="3218688"/>
            <a:ext cx="39136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Fourier conduction Q=(k/t)A(dT), Stefan-Boltzmann radiation to cold sky, published 18650 capacity curve.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35D07F"/>
                </a:solidFill>
                <a:latin typeface="Calibri"/>
              </a:rPr>
              <a:t>Constants are published values; choices are marked ASSUMPTION and validated on the bench.</a:t>
            </a:r>
          </a:p>
        </p:txBody>
      </p:sp>
      <p:sp>
        <p:nvSpPr>
          <p:cNvPr id="21" name="CC_text"/>
          <p:cNvSpPr txBox="1"/>
          <p:nvPr/>
        </p:nvSpPr>
        <p:spPr>
          <a:xfrm>
            <a:off x="9473184" y="3218688"/>
            <a:ext cx="39136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Sweeps battery cells x insulation thickness x heater set-point x panel area. Simulates every combination.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FFB020"/>
                </a:solidFill>
                <a:latin typeface="Calibri"/>
              </a:rPr>
              <a:t>This search engine is what we built during the hackathon.</a:t>
            </a:r>
          </a:p>
        </p:txBody>
      </p:sp>
      <p:sp>
        <p:nvSpPr>
          <p:cNvPr id="22" name="CC_text"/>
          <p:cNvSpPr txBox="1"/>
          <p:nvPr/>
        </p:nvSpPr>
        <p:spPr>
          <a:xfrm>
            <a:off x="13679424" y="3218688"/>
            <a:ext cx="3913632" cy="13258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PASS or FAIL, the minute of failure, and the cheapest passing design with its mass and cost.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1">
                <a:solidFill>
                  <a:srgbClr val="35D07F"/>
                </a:solidFill>
                <a:latin typeface="Calibri"/>
              </a:rPr>
              <a:t>Output is a number and a decision, not a graph to interpret.</a:t>
            </a:r>
          </a:p>
        </p:txBody>
      </p:sp>
      <p:sp>
        <p:nvSpPr>
          <p:cNvPr id="23" name="CC_card"/>
          <p:cNvSpPr/>
          <p:nvPr/>
        </p:nvSpPr>
        <p:spPr>
          <a:xfrm>
            <a:off x="822960" y="4919472"/>
            <a:ext cx="8183879" cy="214884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C_text"/>
          <p:cNvSpPr txBox="1"/>
          <p:nvPr/>
        </p:nvSpPr>
        <p:spPr>
          <a:xfrm>
            <a:off x="1042416" y="506577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WHAT IS NOVEL (built during the sprint)</a:t>
            </a:r>
          </a:p>
        </p:txBody>
      </p:sp>
      <p:sp>
        <p:nvSpPr>
          <p:cNvPr id="25" name="CC_text"/>
          <p:cNvSpPr txBox="1"/>
          <p:nvPr/>
        </p:nvSpPr>
        <p:spPr>
          <a:xfrm>
            <a:off x="1042416" y="5522976"/>
            <a:ext cx="77724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Existing battery calculators simulate ONE design you already chose. Ours SEARCHES the design space.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The search is coupled: power + thermal + duty cycle are solved together, then ranked by cost.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It answers a question a flight team actually asks the night before launch: 'what is the cheapest thing I can change to make this survive?'</a:t>
            </a:r>
          </a:p>
        </p:txBody>
      </p:sp>
      <p:sp>
        <p:nvSpPr>
          <p:cNvPr id="26" name="CC_card"/>
          <p:cNvSpPr/>
          <p:nvPr/>
        </p:nvSpPr>
        <p:spPr>
          <a:xfrm>
            <a:off x="9281160" y="4919472"/>
            <a:ext cx="8183879" cy="214884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CC_text"/>
          <p:cNvSpPr txBox="1"/>
          <p:nvPr/>
        </p:nvSpPr>
        <p:spPr>
          <a:xfrm>
            <a:off x="9500616" y="506577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TOOLS DECLARED (per FAQ 17)</a:t>
            </a:r>
          </a:p>
        </p:txBody>
      </p:sp>
      <p:sp>
        <p:nvSpPr>
          <p:cNvPr id="28" name="CC_text"/>
          <p:cNvSpPr txBox="1"/>
          <p:nvPr/>
        </p:nvSpPr>
        <p:spPr>
          <a:xfrm>
            <a:off x="9500616" y="5522976"/>
            <a:ext cx="7772400" cy="14630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AI coding assistants used as development aids (disclosed).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All physics implemented, reviewed and validated by the team on a bench rig.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50" b="0" i="0">
                <a:solidFill>
                  <a:srgbClr val="DCE6F5"/>
                </a:solidFill>
                <a:latin typeface="Calibri"/>
              </a:rPr>
              <a:t>No third-party code copied; all public datasets attributed on slide 6 (FAQ 27).</a:t>
            </a:r>
          </a:p>
        </p:txBody>
      </p:sp>
      <p:sp>
        <p:nvSpPr>
          <p:cNvPr id="29" name="CC_card"/>
          <p:cNvSpPr/>
          <p:nvPr/>
        </p:nvSpPr>
        <p:spPr>
          <a:xfrm>
            <a:off x="822960" y="7296912"/>
            <a:ext cx="16642080" cy="167335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CC_text"/>
          <p:cNvSpPr txBox="1"/>
          <p:nvPr/>
        </p:nvSpPr>
        <p:spPr>
          <a:xfrm>
            <a:off x="1060704" y="7424927"/>
            <a:ext cx="16166592" cy="13716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CONDUCTION     Q = (k / t) x A x (T_target - T_ambient)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RADIATION      Q = e x s x A x (T_ambient^4 - T_sky^4)      - this term does NOT shrink when you add insulation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8FA6C4"/>
                </a:solidFill>
                <a:latin typeface="Calibri"/>
              </a:rPr>
              <a:t>BATTERY        capacity = f(temperature), published 18650 datasheet curve; no charging below 0 C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8206" y="604913"/>
            <a:ext cx="7171587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FEASIBILITY &amp; VIABILITY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id="6" name="CC_card"/>
          <p:cNvSpPr/>
          <p:nvPr/>
        </p:nvSpPr>
        <p:spPr>
          <a:xfrm>
            <a:off x="822960" y="1956816"/>
            <a:ext cx="8183879" cy="38862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C_text"/>
          <p:cNvSpPr txBox="1"/>
          <p:nvPr/>
        </p:nvSpPr>
        <p:spPr>
          <a:xfrm>
            <a:off x="1042416" y="2103120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VALIDATION - what we checked, and what we did not</a:t>
            </a:r>
          </a:p>
        </p:txBody>
      </p:sp>
      <p:sp>
        <p:nvSpPr>
          <p:cNvPr id="8" name="CC_text"/>
          <p:cNvSpPr txBox="1"/>
          <p:nvPr/>
        </p:nvSpPr>
        <p:spPr>
          <a:xfrm>
            <a:off x="1042416" y="2487168"/>
            <a:ext cx="7772400" cy="192024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DCE6F5"/>
                </a:solidFill>
                <a:latin typeface="Calibri"/>
              </a:rPr>
              <a:t>ATMOSPHERE (checked): our upper-air profile comes from NOAA GFS. Because one model can be biased, we cross-checked it against the independent ECMWF model - from the surface to ~20 km they agree to a mean of 0.2 K.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DCE6F5"/>
                </a:solidFill>
                <a:latin typeface="Calibri"/>
              </a:rPr>
              <a:t>DECISION (checked): re-run with every uncertain input at its range limit. The cheapest survivor holds 50% of insulation error but only 1 of 12 stressed scenarios; 12 of 12 costs Rs 2220 more.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DCE6F5"/>
                </a:solidFill>
                <a:latin typeface="Calibri"/>
              </a:rPr>
              <a:t>THERMAL COEFFICIENT (NOT checked): this needs a bench measurement we did not run. It stays an ASSUMPTION in our code and is listed as a limit below.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100" b="0" i="0">
                <a:solidFill>
                  <a:srgbClr val="DCE6F5"/>
                </a:solidFill>
                <a:latin typeface="Calibri"/>
              </a:rPr>
              <a:t>ABOVE 20 km (NOT checked): only GFS is available, and above 31 km we use the published ISA standard atmosphere.</a:t>
            </a:r>
          </a:p>
        </p:txBody>
      </p:sp>
      <p:sp>
        <p:nvSpPr>
          <p:cNvPr id="9" name="CC_text"/>
          <p:cNvSpPr txBox="1"/>
          <p:nvPr/>
        </p:nvSpPr>
        <p:spPr>
          <a:xfrm>
            <a:off x="1042416" y="4681728"/>
            <a:ext cx="7772400" cy="10515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FB020"/>
                </a:solidFill>
                <a:latin typeface="Calibri"/>
              </a:rPr>
              <a:t>We would rather show you a limit than a number we cannot defend.</a:t>
            </a:r>
          </a:p>
        </p:txBody>
      </p:sp>
      <p:sp>
        <p:nvSpPr>
          <p:cNvPr id="10" name="CC_card"/>
          <p:cNvSpPr/>
          <p:nvPr/>
        </p:nvSpPr>
        <p:spPr>
          <a:xfrm>
            <a:off x="9281160" y="1956816"/>
            <a:ext cx="8183879" cy="38862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CC_text"/>
          <p:cNvSpPr txBox="1"/>
          <p:nvPr/>
        </p:nvSpPr>
        <p:spPr>
          <a:xfrm>
            <a:off x="9500616" y="2103120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DESIGN TRADE - real numbers, real forecast</a:t>
            </a:r>
          </a:p>
        </p:txBody>
      </p:sp>
      <p:sp>
        <p:nvSpPr>
          <p:cNvPr id="12" name="CC_text"/>
          <p:cNvSpPr txBox="1"/>
          <p:nvPr/>
        </p:nvSpPr>
        <p:spPr>
          <a:xfrm>
            <a:off x="9500616" y="2523744"/>
            <a:ext cx="7772400" cy="310896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FA6C4"/>
                </a:solidFill>
                <a:latin typeface="Calibri"/>
              </a:rPr>
              <a:t>6 cells, 10 mm, heater -10 C  -  what teams try first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5C6E"/>
                </a:solidFill>
                <a:latin typeface="HK Grotesk Bold"/>
              </a:rPr>
              <a:t>FAIL 00:14  |  foam would need to be 5.0x better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FA6C4"/>
                </a:solidFill>
                <a:latin typeface="Calibri"/>
              </a:rPr>
              <a:t>10 cells, 10 mm, heater 0 C  -  'just add batteries'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5C6E"/>
                </a:solidFill>
                <a:latin typeface="HK Grotesk Bold"/>
              </a:rPr>
              <a:t>FAIL 04:07  |  Rs 3369  |  needs foam 1.8x better. Still fails.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FA6C4"/>
                </a:solidFill>
                <a:latin typeface="Calibri"/>
              </a:rPr>
              <a:t>6 cells, 75 mm, heater off  -  cheapest that survives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0" i="0">
                <a:solidFill>
                  <a:srgbClr val="FFB020"/>
                </a:solidFill>
                <a:latin typeface="HK Grotesk Bold"/>
              </a:rPr>
              <a:t>PASS 3.33x margin  |  Rs 2468  |  holds only 1 of 12 stressed scenarios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8FA6C4"/>
                </a:solidFill>
                <a:latin typeface="Calibri"/>
              </a:rPr>
              <a:t>12 cells, 75 mm + panel  -  the robust choice</a:t>
            </a:r>
          </a:p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450" b="1" i="0">
                <a:solidFill>
                  <a:srgbClr val="35D07F"/>
                </a:solidFill>
                <a:latin typeface="HK Grotesk Bold"/>
              </a:rPr>
              <a:t>PASS 7.40x margin  |  Rs 4688  |  holds 12 of 12 stressed scenarios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1">
                <a:solidFill>
                  <a:srgbClr val="8FA6C4"/>
                </a:solidFill>
                <a:latin typeface="Calibri"/>
              </a:rPr>
              <a:t>Search: 4 battery sizes x 4 insulation thicknesses x 3 heater settings x 2 heater ratings x 2 panel areas, then a local refinement - 250 candidates, each run through the full flight model. Not an exhaustive search; see the app for its stated limits.</a:t>
            </a:r>
          </a:p>
        </p:txBody>
      </p:sp>
      <p:sp>
        <p:nvSpPr>
          <p:cNvPr id="13" name="CC_card"/>
          <p:cNvSpPr/>
          <p:nvPr/>
        </p:nvSpPr>
        <p:spPr>
          <a:xfrm>
            <a:off x="822960" y="6007608"/>
            <a:ext cx="16642080" cy="1481328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CC_text"/>
          <p:cNvSpPr txBox="1"/>
          <p:nvPr/>
        </p:nvSpPr>
        <p:spPr>
          <a:xfrm>
            <a:off x="1078992" y="6153912"/>
            <a:ext cx="16130016" cy="118872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CAE8FF"/>
                </a:solidFill>
                <a:latin typeface="Calibri"/>
              </a:rPr>
              <a:t>THE FINDING:  </a:t>
            </a:r>
            <a:r>
              <a:rPr sz="1400" b="0">
                <a:solidFill>
                  <a:srgbClr val="8FA6C4"/>
                </a:solidFill>
                <a:latin typeface="Calibri"/>
              </a:rPr>
              <a:t>adding batteries makes it WORSE - more cells means a colder, hungrier box. Both designs a team builds first fail, and they fail even when we give them better insulation than we assumed.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CAE8FF"/>
                </a:solidFill>
                <a:latin typeface="Calibri"/>
              </a:rPr>
              <a:t>WHAT SEPARATES THEM:  </a:t>
            </a:r>
            <a:r>
              <a:rPr sz="1400" b="0">
                <a:solidFill>
                  <a:srgbClr val="8FA6C4"/>
                </a:solidFill>
                <a:latin typeface="Calibri"/>
              </a:rPr>
              <a:t>Rs 2468 buys the cheapest design that survives the forecast as issued - but it holds only </a:t>
            </a:r>
            <a:r>
              <a:rPr sz="1400" b="1">
                <a:solidFill>
                  <a:srgbClr val="FF5C6E"/>
                </a:solidFill>
                <a:latin typeface="Calibri"/>
              </a:rPr>
              <a:t>1 of 12</a:t>
            </a:r>
            <a:r>
              <a:rPr sz="1400" b="0">
                <a:solidFill>
                  <a:srgbClr val="8FA6C4"/>
                </a:solidFill>
                <a:latin typeface="Calibri"/>
              </a:rPr>
              <a:t> stressed scenarios. </a:t>
            </a:r>
            <a:r>
              <a:rPr sz="1400" b="1">
                <a:solidFill>
                  <a:srgbClr val="FF5C6E"/>
                </a:solidFill>
                <a:latin typeface="Calibri"/>
              </a:rPr>
              <a:t>Rs 2220 more</a:t>
            </a:r>
            <a:r>
              <a:rPr sz="1400" b="0">
                <a:solidFill>
                  <a:srgbClr val="8FA6C4"/>
                </a:solidFill>
                <a:latin typeface="Calibri"/>
              </a:rPr>
              <a:t> buys </a:t>
            </a:r>
            <a:r>
              <a:rPr sz="1400" b="1">
                <a:solidFill>
                  <a:srgbClr val="35D07F"/>
                </a:solidFill>
                <a:latin typeface="Calibri"/>
              </a:rPr>
              <a:t>12 of 12</a:t>
            </a:r>
            <a:r>
              <a:rPr sz="1400" b="0">
                <a:solidFill>
                  <a:srgbClr val="8FA6C4"/>
                </a:solidFill>
                <a:latin typeface="Calibri"/>
              </a:rPr>
              <a:t>. The app tells you which one you are buying, and it never calls a scenario pass rate a survival probability.</a:t>
            </a:r>
          </a:p>
        </p:txBody>
      </p:sp>
      <p:sp>
        <p:nvSpPr>
          <p:cNvPr id="15" name="CC_card"/>
          <p:cNvSpPr/>
          <p:nvPr/>
        </p:nvSpPr>
        <p:spPr>
          <a:xfrm>
            <a:off x="822960" y="7653528"/>
            <a:ext cx="8183879" cy="246888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C_text"/>
          <p:cNvSpPr txBox="1"/>
          <p:nvPr/>
        </p:nvSpPr>
        <p:spPr>
          <a:xfrm>
            <a:off x="1042416" y="7799831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WHAT IT COSTS TO BUILD</a:t>
            </a:r>
          </a:p>
        </p:txBody>
      </p:sp>
      <p:sp>
        <p:nvSpPr>
          <p:cNvPr id="17" name="CC_text"/>
          <p:cNvSpPr txBox="1"/>
          <p:nvPr/>
        </p:nvSpPr>
        <p:spPr>
          <a:xfrm>
            <a:off x="1042416" y="8220456"/>
            <a:ext cx="77724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Recommended design: Rs 2468, 0.75 kg - 6 x 18650 cells, 75 mm insulation, no heater (the box holds itself above the limit).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Validation cost: Rs 0 - cross-model check plus sensitivity analysis.</a:t>
            </a:r>
          </a:p>
          <a:p>
            <a:pPr algn="l">
              <a:spcBef>
                <a:spcPts val="0"/>
              </a:spcBef>
              <a:spcAft>
                <a:spcPts val="50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Software: Rs 0. Runs on free public APIs with no licence fees.</a:t>
            </a:r>
          </a:p>
        </p:txBody>
      </p:sp>
      <p:sp>
        <p:nvSpPr>
          <p:cNvPr id="18" name="CC_card"/>
          <p:cNvSpPr/>
          <p:nvPr/>
        </p:nvSpPr>
        <p:spPr>
          <a:xfrm>
            <a:off x="9281160" y="7653528"/>
            <a:ext cx="8183879" cy="246888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CC_text"/>
          <p:cNvSpPr txBox="1"/>
          <p:nvPr/>
        </p:nvSpPr>
        <p:spPr>
          <a:xfrm>
            <a:off x="9500616" y="7799831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KNOWN LIMITS - STATED OPENLY</a:t>
            </a:r>
          </a:p>
        </p:txBody>
      </p:sp>
      <p:sp>
        <p:nvSpPr>
          <p:cNvPr id="20" name="CC_text"/>
          <p:cNvSpPr txBox="1"/>
          <p:nvPr/>
        </p:nvSpPr>
        <p:spPr>
          <a:xfrm>
            <a:off x="9500616" y="8220456"/>
            <a:ext cx="7772400" cy="18288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CE6F5"/>
                </a:solidFill>
                <a:latin typeface="Calibri"/>
              </a:rPr>
              <a:t>Above ~31 km GFS has no data - we switch to the published ISA standard atmosphere, and say so.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CE6F5"/>
                </a:solidFill>
                <a:latin typeface="Calibri"/>
              </a:rPr>
              <a:t>The thermal coefficient is an ASSUMPTION, not bench-measured - so results are reported as a sensitivity band.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CE6F5"/>
                </a:solidFill>
                <a:latin typeface="Calibri"/>
              </a:rPr>
              <a:t>Solar generation is a sensitivity band, not a single false number.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CE6F5"/>
                </a:solidFill>
                <a:latin typeface="Calibri"/>
              </a:rPr>
              <a:t>It tolerates foam 50% worse than assumed; overheating sets an upper edge at roughly 2.5x better.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050" b="0" i="0">
                <a:solidFill>
                  <a:srgbClr val="DCE6F5"/>
                </a:solidFill>
                <a:latin typeface="Calibri"/>
              </a:rPr>
              <a:t>Scenario counts are a pass rate over the ranges we tested - never a survival probability.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558206" y="604913"/>
            <a:ext cx="7171587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IMPACT &amp; BENEFITS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id="6" name="CC_card"/>
          <p:cNvSpPr/>
          <p:nvPr/>
        </p:nvSpPr>
        <p:spPr>
          <a:xfrm>
            <a:off x="822960" y="1737360"/>
            <a:ext cx="3840480" cy="29718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C_text"/>
          <p:cNvSpPr txBox="1"/>
          <p:nvPr/>
        </p:nvSpPr>
        <p:spPr>
          <a:xfrm>
            <a:off x="1024128" y="1938528"/>
            <a:ext cx="3438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DA3FF"/>
                </a:solidFill>
                <a:latin typeface="HK Grotesk Bold"/>
              </a:rPr>
              <a:t>PREVENTS LOSS</a:t>
            </a:r>
          </a:p>
        </p:txBody>
      </p:sp>
      <p:sp>
        <p:nvSpPr>
          <p:cNvPr id="8" name="CC_text"/>
          <p:cNvSpPr txBox="1"/>
          <p:nvPr/>
        </p:nvSpPr>
        <p:spPr>
          <a:xfrm>
            <a:off x="1024128" y="2514600"/>
            <a:ext cx="34381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A payload that brownouts at 00:14 is a dead mission. This catches it before launch, not after.</a:t>
            </a:r>
          </a:p>
        </p:txBody>
      </p:sp>
      <p:sp>
        <p:nvSpPr>
          <p:cNvPr id="9" name="CC_card"/>
          <p:cNvSpPr/>
          <p:nvPr/>
        </p:nvSpPr>
        <p:spPr>
          <a:xfrm>
            <a:off x="5093208" y="1737360"/>
            <a:ext cx="3840480" cy="29718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CC_text"/>
          <p:cNvSpPr txBox="1"/>
          <p:nvPr/>
        </p:nvSpPr>
        <p:spPr>
          <a:xfrm>
            <a:off x="5294376" y="1938528"/>
            <a:ext cx="3438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AE8FF"/>
                </a:solidFill>
                <a:latin typeface="HK Grotesk Bold"/>
              </a:rPr>
              <a:t>SAVES MASS</a:t>
            </a:r>
          </a:p>
        </p:txBody>
      </p:sp>
      <p:sp>
        <p:nvSpPr>
          <p:cNvPr id="11" name="CC_text"/>
          <p:cNvSpPr txBox="1"/>
          <p:nvPr/>
        </p:nvSpPr>
        <p:spPr>
          <a:xfrm>
            <a:off x="5294376" y="2514600"/>
            <a:ext cx="34381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Right-sized batteries instead of guessed ones. Less mass on every flight means cheaper launch.</a:t>
            </a:r>
          </a:p>
        </p:txBody>
      </p:sp>
      <p:sp>
        <p:nvSpPr>
          <p:cNvPr id="12" name="CC_card"/>
          <p:cNvSpPr/>
          <p:nvPr/>
        </p:nvSpPr>
        <p:spPr>
          <a:xfrm>
            <a:off x="9363456" y="1737360"/>
            <a:ext cx="3840480" cy="29718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C_text"/>
          <p:cNvSpPr txBox="1"/>
          <p:nvPr/>
        </p:nvSpPr>
        <p:spPr>
          <a:xfrm>
            <a:off x="9564624" y="1938528"/>
            <a:ext cx="3438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FFB020"/>
                </a:solidFill>
                <a:latin typeface="HK Grotesk Bold"/>
              </a:rPr>
              <a:t>REUSABLE</a:t>
            </a:r>
          </a:p>
        </p:txBody>
      </p:sp>
      <p:sp>
        <p:nvSpPr>
          <p:cNvPr id="14" name="CC_text"/>
          <p:cNvSpPr txBox="1"/>
          <p:nvPr/>
        </p:nvSpPr>
        <p:spPr>
          <a:xfrm>
            <a:off x="9564624" y="2514600"/>
            <a:ext cx="34381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Same engine plans balloon nights and CubeSat eclipses - different mission, same physics.</a:t>
            </a:r>
          </a:p>
        </p:txBody>
      </p:sp>
      <p:sp>
        <p:nvSpPr>
          <p:cNvPr id="15" name="CC_card"/>
          <p:cNvSpPr/>
          <p:nvPr/>
        </p:nvSpPr>
        <p:spPr>
          <a:xfrm>
            <a:off x="13633704" y="1737360"/>
            <a:ext cx="3840480" cy="297180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CC_text"/>
          <p:cNvSpPr txBox="1"/>
          <p:nvPr/>
        </p:nvSpPr>
        <p:spPr>
          <a:xfrm>
            <a:off x="13834872" y="1938528"/>
            <a:ext cx="3438144" cy="45720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5D07F"/>
                </a:solidFill>
                <a:latin typeface="HK Grotesk Bold"/>
              </a:rPr>
              <a:t>OPEN DATA</a:t>
            </a:r>
          </a:p>
        </p:txBody>
      </p:sp>
      <p:sp>
        <p:nvSpPr>
          <p:cNvPr id="17" name="CC_text"/>
          <p:cNvSpPr txBox="1"/>
          <p:nvPr/>
        </p:nvSpPr>
        <p:spPr>
          <a:xfrm>
            <a:off x="13834872" y="2514600"/>
            <a:ext cx="3438144" cy="201168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CE6F5"/>
                </a:solidFill>
                <a:latin typeface="Calibri"/>
              </a:rPr>
              <a:t>Runs entirely on free public APIs, so any student team anywhere can use it.</a:t>
            </a:r>
          </a:p>
        </p:txBody>
      </p:sp>
      <p:sp>
        <p:nvSpPr>
          <p:cNvPr id="18" name="CC_card"/>
          <p:cNvSpPr/>
          <p:nvPr/>
        </p:nvSpPr>
        <p:spPr>
          <a:xfrm>
            <a:off x="822960" y="4937759"/>
            <a:ext cx="16642080" cy="1874519"/>
          </a:xfrm>
          <a:prstGeom prst="roundRect">
            <a:avLst>
              <a:gd name="adj" fmla="val 5000"/>
            </a:avLst>
          </a:prstGeom>
          <a:solidFill>
            <a:srgbClr val="0A1F18"/>
          </a:solidFill>
          <a:ln w="12700">
            <a:solidFill>
              <a:srgbClr val="1E5C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CC_text"/>
          <p:cNvSpPr txBox="1"/>
          <p:nvPr/>
        </p:nvSpPr>
        <p:spPr>
          <a:xfrm>
            <a:off x="1097280" y="5120640"/>
            <a:ext cx="16093439" cy="150876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CAE8FF"/>
                </a:solidFill>
                <a:latin typeface="Calibri"/>
              </a:rPr>
              <a:t>THE NUMBER THAT MATTERS:   </a:t>
            </a:r>
            <a:r>
              <a:rPr sz="1600" b="1">
                <a:solidFill>
                  <a:srgbClr val="35D07F"/>
                </a:solidFill>
                <a:latin typeface="Calibri"/>
              </a:rPr>
              <a:t>99</a:t>
            </a:r>
            <a:r>
              <a:rPr sz="1600" b="0">
                <a:solidFill>
                  <a:srgbClr val="8FA6C4"/>
                </a:solidFill>
                <a:latin typeface="Calibri"/>
              </a:rPr>
              <a:t>   rupees.  That is the entire gap between the design that survives the night and the design that does not (</a:t>
            </a:r>
            <a:r>
              <a:rPr sz="1600" b="1">
                <a:solidFill>
                  <a:srgbClr val="35D07F"/>
                </a:solidFill>
                <a:latin typeface="Calibri"/>
              </a:rPr>
              <a:t>Rs 2468</a:t>
            </a:r>
            <a:r>
              <a:rPr sz="1600" b="0">
                <a:solidFill>
                  <a:srgbClr val="8FA6C4"/>
                </a:solidFill>
                <a:latin typeface="Calibri"/>
              </a:rPr>
              <a:t>  versus  </a:t>
            </a:r>
            <a:r>
              <a:rPr sz="1600" b="1">
                <a:solidFill>
                  <a:srgbClr val="FF5C6E"/>
                </a:solidFill>
                <a:latin typeface="Calibri"/>
              </a:rPr>
              <a:t>Rs 2369</a:t>
            </a:r>
            <a:r>
              <a:rPr sz="1600" b="0">
                <a:solidFill>
                  <a:srgbClr val="8FA6C4"/>
                </a:solidFill>
                <a:latin typeface="Calibri"/>
              </a:rPr>
              <a:t>).  Everything else on this slide is a consequence of that number.</a:t>
            </a:r>
          </a:p>
        </p:txBody>
      </p:sp>
      <p:sp>
        <p:nvSpPr>
          <p:cNvPr id="20" name="CC_card"/>
          <p:cNvSpPr/>
          <p:nvPr/>
        </p:nvSpPr>
        <p:spPr>
          <a:xfrm>
            <a:off x="822960" y="7022592"/>
            <a:ext cx="8183879" cy="288036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C_text"/>
          <p:cNvSpPr txBox="1"/>
          <p:nvPr/>
        </p:nvSpPr>
        <p:spPr>
          <a:xfrm>
            <a:off x="1042416" y="716889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WHO USES IT</a:t>
            </a:r>
          </a:p>
        </p:txBody>
      </p:sp>
      <p:sp>
        <p:nvSpPr>
          <p:cNvPr id="22" name="CC_text"/>
          <p:cNvSpPr txBox="1"/>
          <p:nvPr/>
        </p:nvSpPr>
        <p:spPr>
          <a:xfrm>
            <a:off x="1042416" y="7644383"/>
            <a:ext cx="777240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Student high-altitude balloon teams - SEDS REC flies these missions.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Near-space payload operators - the same cold-night problem, with rupees at stake.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CubeSat teams sizing a power budget for an electric-propulsion duty cycle.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Any team that needs a go/no-go answer the night before a launch.</a:t>
            </a:r>
          </a:p>
        </p:txBody>
      </p:sp>
      <p:sp>
        <p:nvSpPr>
          <p:cNvPr id="23" name="CC_card"/>
          <p:cNvSpPr/>
          <p:nvPr/>
        </p:nvSpPr>
        <p:spPr>
          <a:xfrm>
            <a:off x="9281160" y="7022592"/>
            <a:ext cx="8183879" cy="2880360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CC_text"/>
          <p:cNvSpPr txBox="1"/>
          <p:nvPr/>
        </p:nvSpPr>
        <p:spPr>
          <a:xfrm>
            <a:off x="9500616" y="7168896"/>
            <a:ext cx="7680960" cy="384048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CAE8FF"/>
                </a:solidFill>
                <a:latin typeface="HK Grotesk Bold"/>
              </a:rPr>
              <a:t>WHERE IT GOES NEXT</a:t>
            </a:r>
          </a:p>
        </p:txBody>
      </p:sp>
      <p:sp>
        <p:nvSpPr>
          <p:cNvPr id="25" name="CC_text"/>
          <p:cNvSpPr txBox="1"/>
          <p:nvPr/>
        </p:nvSpPr>
        <p:spPr>
          <a:xfrm>
            <a:off x="9500616" y="7644383"/>
            <a:ext cx="7772400" cy="2103120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Run the same planner for a real flight date and hand the operator a report.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Add the radiosonde archive to validate against real Chennai soundings (WMO 43279).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Extend from a single payload box to a whole mission power budget.</a:t>
            </a:r>
          </a:p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Calibrate the thermal model against more bench measurements, then publish the error.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56141" cy="10287000"/>
          </a:xfrm>
          <a:custGeom>
            <a:avLst/>
            <a:gdLst/>
            <a:ahLst/>
            <a:cxnLst/>
            <a:rect r="r" b="b" t="t" l="l"/>
            <a:pathLst>
              <a:path h="10287000" w="18256141">
                <a:moveTo>
                  <a:pt x="0" y="0"/>
                </a:moveTo>
                <a:lnTo>
                  <a:pt x="18256141" y="0"/>
                </a:lnTo>
                <a:lnTo>
                  <a:pt x="18256141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 l="-10568" t="0" r="-5115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955268" y="-156477"/>
            <a:ext cx="1819044" cy="1819044"/>
          </a:xfrm>
          <a:custGeom>
            <a:avLst/>
            <a:gdLst/>
            <a:ahLst/>
            <a:cxnLst/>
            <a:rect r="r" b="b" t="t" l="l"/>
            <a:pathLst>
              <a:path h="1819044" w="1819044">
                <a:moveTo>
                  <a:pt x="0" y="0"/>
                </a:moveTo>
                <a:lnTo>
                  <a:pt x="1819045" y="0"/>
                </a:lnTo>
                <a:lnTo>
                  <a:pt x="1819045" y="1819044"/>
                </a:lnTo>
                <a:lnTo>
                  <a:pt x="0" y="181904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5558206" y="604913"/>
            <a:ext cx="7460684" cy="5693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4000"/>
              </a:lnSpc>
            </a:pPr>
            <a:r>
              <a:rPr lang="en-US" b="true" sz="4820" u="sng">
                <a:solidFill>
                  <a:srgbClr val="CAE8FF"/>
                </a:solidFill>
                <a:latin typeface="HK Grotesk Bold"/>
                <a:ea typeface="HK Grotesk Bold"/>
                <a:cs typeface="HK Grotesk Bold"/>
                <a:sym typeface="HK Grotesk Bold"/>
              </a:rPr>
              <a:t>RESEARCH &amp; REFERENCE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635243" y="369503"/>
            <a:ext cx="2719854" cy="878286"/>
          </a:xfrm>
          <a:custGeom>
            <a:avLst/>
            <a:gdLst/>
            <a:ahLst/>
            <a:cxnLst/>
            <a:rect r="r" b="b" t="t" l="l"/>
            <a:pathLst>
              <a:path h="878286" w="2719854">
                <a:moveTo>
                  <a:pt x="0" y="0"/>
                </a:moveTo>
                <a:lnTo>
                  <a:pt x="2719855" y="0"/>
                </a:lnTo>
                <a:lnTo>
                  <a:pt x="2719855" y="878287"/>
                </a:lnTo>
                <a:lnTo>
                  <a:pt x="0" y="87828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id="6" name="CC_card"/>
          <p:cNvSpPr/>
          <p:nvPr/>
        </p:nvSpPr>
        <p:spPr>
          <a:xfrm>
            <a:off x="822960" y="1737360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CC_text"/>
          <p:cNvSpPr txBox="1"/>
          <p:nvPr/>
        </p:nvSpPr>
        <p:spPr>
          <a:xfrm>
            <a:off x="1024128" y="1847088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NOAA GFS upper-air forecast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via Open-Meteo - real temperature, wind and geopotential height profiles to about 31 km. Public API, no key.</a:t>
            </a:r>
          </a:p>
        </p:txBody>
      </p:sp>
      <p:sp>
        <p:nvSpPr>
          <p:cNvPr id="8" name="CC_card"/>
          <p:cNvSpPr/>
          <p:nvPr/>
        </p:nvSpPr>
        <p:spPr>
          <a:xfrm>
            <a:off x="9281160" y="1737360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CC_text"/>
          <p:cNvSpPr txBox="1"/>
          <p:nvPr/>
        </p:nvSpPr>
        <p:spPr>
          <a:xfrm>
            <a:off x="9482328" y="1847088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Open-Meteo historical archive (ERA5)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real measured solar irradiance used to backtest the model against past conditions.</a:t>
            </a:r>
          </a:p>
        </p:txBody>
      </p:sp>
      <p:sp>
        <p:nvSpPr>
          <p:cNvPr id="10" name="CC_card"/>
          <p:cNvSpPr/>
          <p:nvPr/>
        </p:nvSpPr>
        <p:spPr>
          <a:xfrm>
            <a:off x="822960" y="3218688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CC_text"/>
          <p:cNvSpPr txBox="1"/>
          <p:nvPr/>
        </p:nvSpPr>
        <p:spPr>
          <a:xfrm>
            <a:off x="1024128" y="3328416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NASA POWER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satellite-derived solar resource and temperature, used as the long-term baseline. Open, attribution required.</a:t>
            </a:r>
          </a:p>
        </p:txBody>
      </p:sp>
      <p:sp>
        <p:nvSpPr>
          <p:cNvPr id="12" name="CC_card"/>
          <p:cNvSpPr/>
          <p:nvPr/>
        </p:nvSpPr>
        <p:spPr>
          <a:xfrm>
            <a:off x="9281160" y="3218688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CC_text"/>
          <p:cNvSpPr txBox="1"/>
          <p:nvPr/>
        </p:nvSpPr>
        <p:spPr>
          <a:xfrm>
            <a:off x="9482328" y="3328416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Celestrak orbital catalogue (TLE)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live orbital elements of real satellites; propagated with SGP4 for eclipse planning. Open data.</a:t>
            </a:r>
          </a:p>
        </p:txBody>
      </p:sp>
      <p:sp>
        <p:nvSpPr>
          <p:cNvPr id="14" name="CC_card"/>
          <p:cNvSpPr/>
          <p:nvPr/>
        </p:nvSpPr>
        <p:spPr>
          <a:xfrm>
            <a:off x="822960" y="4700016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CC_text"/>
          <p:cNvSpPr txBox="1"/>
          <p:nvPr/>
        </p:nvSpPr>
        <p:spPr>
          <a:xfrm>
            <a:off x="1024128" y="4809744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NOAA SWPC space weather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real X-ray flare class and planetary K index feeds.</a:t>
            </a:r>
          </a:p>
        </p:txBody>
      </p:sp>
      <p:sp>
        <p:nvSpPr>
          <p:cNvPr id="16" name="CC_card"/>
          <p:cNvSpPr/>
          <p:nvPr/>
        </p:nvSpPr>
        <p:spPr>
          <a:xfrm>
            <a:off x="9281160" y="4700016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CC_text"/>
          <p:cNvSpPr txBox="1"/>
          <p:nvPr/>
        </p:nvSpPr>
        <p:spPr>
          <a:xfrm>
            <a:off x="9482328" y="4809744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University of Wyoming radiosonde archive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real upper-air soundings for Chennai / Minambakkam, station WMO 43279 - used for validation.</a:t>
            </a:r>
          </a:p>
        </p:txBody>
      </p:sp>
      <p:sp>
        <p:nvSpPr>
          <p:cNvPr id="18" name="CC_card"/>
          <p:cNvSpPr/>
          <p:nvPr/>
        </p:nvSpPr>
        <p:spPr>
          <a:xfrm>
            <a:off x="822960" y="6181344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CC_text"/>
          <p:cNvSpPr txBox="1"/>
          <p:nvPr/>
        </p:nvSpPr>
        <p:spPr>
          <a:xfrm>
            <a:off x="1024128" y="6291072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18650 cell manufacturer datasheets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published capacity-versus-temperature discharge curves, quoted directly rather than invented.</a:t>
            </a:r>
          </a:p>
        </p:txBody>
      </p:sp>
      <p:sp>
        <p:nvSpPr>
          <p:cNvPr id="20" name="CC_card"/>
          <p:cNvSpPr/>
          <p:nvPr/>
        </p:nvSpPr>
        <p:spPr>
          <a:xfrm>
            <a:off x="9281160" y="6181344"/>
            <a:ext cx="8183879" cy="1353312"/>
          </a:xfrm>
          <a:prstGeom prst="roundRect">
            <a:avLst>
              <a:gd name="adj" fmla="val 5000"/>
            </a:avLst>
          </a:prstGeom>
          <a:solidFill>
            <a:srgbClr val="0B1730"/>
          </a:solidFill>
          <a:ln w="12700">
            <a:solidFill>
              <a:srgbClr val="1F3A6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CC_text"/>
          <p:cNvSpPr txBox="1"/>
          <p:nvPr/>
        </p:nvSpPr>
        <p:spPr>
          <a:xfrm>
            <a:off x="9482328" y="6291072"/>
            <a:ext cx="7781544" cy="1133856"/>
          </a:xfrm>
          <a:prstGeom prst="rect">
            <a:avLst/>
          </a:prstGeom>
          <a:noFill/>
        </p:spPr>
        <p:txBody>
          <a:bodyPr wrap="square" anchor="t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400" b="1" i="0">
                <a:solidFill>
                  <a:srgbClr val="CAE8FF"/>
                </a:solidFill>
                <a:latin typeface="HK Grotesk Bold"/>
              </a:rPr>
              <a:t>NOAA solar position algorithm and ISA standard atmosphere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DCE6F5"/>
                </a:solidFill>
                <a:latin typeface="Calibri"/>
              </a:rPr>
              <a:t>standard published methods for sun geometry and the upper atmosphere.</a:t>
            </a:r>
          </a:p>
        </p:txBody>
      </p:sp>
      <p:sp>
        <p:nvSpPr>
          <p:cNvPr id="22" name="CC_card"/>
          <p:cNvSpPr/>
          <p:nvPr/>
        </p:nvSpPr>
        <p:spPr>
          <a:xfrm>
            <a:off x="822960" y="7708392"/>
            <a:ext cx="16642080" cy="2194560"/>
          </a:xfrm>
          <a:prstGeom prst="roundRect">
            <a:avLst>
              <a:gd name="adj" fmla="val 5000"/>
            </a:avLst>
          </a:prstGeom>
          <a:solidFill>
            <a:srgbClr val="1A1406"/>
          </a:solidFill>
          <a:ln w="12700">
            <a:solidFill>
              <a:srgbClr val="5C45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CC_text"/>
          <p:cNvSpPr txBox="1"/>
          <p:nvPr/>
        </p:nvSpPr>
        <p:spPr>
          <a:xfrm>
            <a:off x="1097280" y="7891271"/>
            <a:ext cx="16093439" cy="1828800"/>
          </a:xfrm>
          <a:prstGeom prst="rect">
            <a:avLst/>
          </a:prstGeom>
          <a:noFill/>
        </p:spPr>
        <p:txBody>
          <a:bodyPr wrap="square" anchor="ctr" lIns="36576" rIns="36576" tIns="18288" bIns="18288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500" b="1" i="0">
                <a:solidFill>
                  <a:srgbClr val="FFB020"/>
                </a:solidFill>
                <a:latin typeface="HK Grotesk Bold"/>
              </a:rPr>
              <a:t>ATTRIBUTION AND LICENCES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Every dataset used is public and is credited above by name. No dataset is redistributed with this submission; we query the sources live at demonstration time and cache the response only so the demo survives a network failure, clearly labelled as CACHED (per FAQ 27).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CE6F5"/>
                </a:solidFill>
                <a:latin typeface="Calibri"/>
              </a:rPr>
              <a:t>Assumptions made by the team (box geometry, payload load, insulation properties beyond datasheet values) are marked ASSUMPTION in our source code and are listed on slide 4 as limits to be validated.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DAHW2RpwrMc</dc:identifier>
  <dcterms:modified xsi:type="dcterms:W3CDTF">2011-08-01T06:04:30Z</dcterms:modified>
  <cp:revision>1</cp:revision>
  <dc:title>PS ID: [XXXX] PS Title: [Problem Statement Title Here]</dc:title>
</cp:coreProperties>
</file>